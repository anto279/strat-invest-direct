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25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2AD5D1-6A95-03B3-E935-F9D051032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1130595-3026-F3C8-5FF9-37A3F6FA3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1AF7E1-A7D7-1D20-7991-8ED362F30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075D-53D9-4F00-8D7E-E16F03D4D916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C16E9B1-E4AB-02DE-8066-B2641B98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53F47B-6607-B24A-A52E-032A8DA83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7E3F-0A43-46D2-8069-B8ABF6EDD9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9148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AEEF6D-828E-1855-FD8F-44C6DB4D5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689301-8060-0D4F-77DA-001643886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CE101B-CAED-BE4E-0524-9316D9BC0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075D-53D9-4F00-8D7E-E16F03D4D916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6866BC-C551-D511-58C9-E48CD2A99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CD01F10-AD8C-8CDE-C18B-36E8F6FE1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7E3F-0A43-46D2-8069-B8ABF6EDD9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3362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9669CE-3866-A54D-9147-63BA9456C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C93073-3B3F-DF67-C101-35E03ED1E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E8FE8C-3FC8-7CFF-1688-83B15AAB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075D-53D9-4F00-8D7E-E16F03D4D916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4F61DF-055C-FD52-5D51-AAF87144B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8A7072-82E9-D8B7-1774-9D14D6B49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7E3F-0A43-46D2-8069-B8ABF6EDD9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707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FDF71A-2E72-5C61-57C8-7E9DA2CEF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0871E1-8F70-AF2D-EE7A-3AE499F873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798612C-FB11-ECF2-2CB8-AB02022F2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CDAC93E-3A24-5776-4CD0-37A360497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075D-53D9-4F00-8D7E-E16F03D4D916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D557EB5-C265-F8AB-3F40-317E9929B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060D685-EAD7-4345-C4C7-907888E51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7E3F-0A43-46D2-8069-B8ABF6EDD9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152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5421EC-EC3E-C335-55C4-197AF5FC6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ACF7E18-2610-9F89-5F1D-DCA402B52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404C841-238A-A14D-CB12-7CC4B4159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E938895-1A87-3B83-D396-21D13C871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59FAD7E-5AA8-C8F7-70E4-F3DB8CA6C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60CDB84-808F-8EE7-C935-F711637FC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075D-53D9-4F00-8D7E-E16F03D4D916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AC14556-3302-644D-BA66-B273A40F4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D86CC13-530B-129A-71E2-81C9AC3D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7E3F-0A43-46D2-8069-B8ABF6EDD9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2809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71DAE0-8C7A-9732-2E28-FF638DA0F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0ED389B-D248-0BCE-DC3A-A6B05C89A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075D-53D9-4F00-8D7E-E16F03D4D916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4400796-9139-BF99-D935-A2FADD5FA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06D854C-5C61-9A0B-5808-BF51492DA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7E3F-0A43-46D2-8069-B8ABF6EDD9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29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2D830C4-2CE8-4CB5-99CB-58B8686FF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075D-53D9-4F00-8D7E-E16F03D4D916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4650CF6-3013-B056-BD5C-D51EA0D5B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7792C9-C6FB-E34D-3F14-95D460C3C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7E3F-0A43-46D2-8069-B8ABF6EDD9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1805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2317AB-66B3-D61F-00FF-12597FE10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6DD080-5450-6911-BC5A-EE4C05402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8CDF4B1-EF80-F595-6E3B-50E972023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303F65D-BC78-50D9-A78B-E7E9DE104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075D-53D9-4F00-8D7E-E16F03D4D916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9F88896-0FE1-0A5C-014F-5565F6C81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5B27D78-D8AB-CD83-BEBE-8924DB59E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7E3F-0A43-46D2-8069-B8ABF6EDD9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3780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4CCE02-03C3-DE87-CFFF-AEF221E32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FB7E808-6D85-9296-1B1E-DCB3A2EF2C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A6402A-3116-04EE-C299-DA7207FC8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1BD8842-1A91-0128-4A30-4AC5E5278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075D-53D9-4F00-8D7E-E16F03D4D916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18642A3-0D55-0058-DA50-97DF85D43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50C6D7-477C-31B1-A4F4-C946224B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7E3F-0A43-46D2-8069-B8ABF6EDD9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082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AC5773-7712-ED4C-F088-8454833C5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0E410C5-1F1E-130A-4991-FF3D0D8C2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336B08-266E-C308-5868-F39A144E4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075D-53D9-4F00-8D7E-E16F03D4D916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259FD4-23A9-09AF-2907-B3684E4F2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CCA5F5-53C7-5089-751B-69B1EBACC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7E3F-0A43-46D2-8069-B8ABF6EDD9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744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FEF7374-00A0-730A-79FF-C917A440EE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566CB08-9E73-6024-3A6B-A28699614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5B1DE1-F9A5-DEE7-08C3-6583D5C5F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4075D-53D9-4F00-8D7E-E16F03D4D916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C3445E-19ED-E0CE-6F44-DC50873DA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7C7F1F-16A6-94BD-C4A4-0E655BE6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D7E3F-0A43-46D2-8069-B8ABF6EDD9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947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A27BE62-95E8-CADE-DD93-164DECECC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1287F6C-90E0-13B7-EFCF-7CFD2AA3F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560955-03CB-2182-235B-3A5AA2D6D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4075D-53D9-4F00-8D7E-E16F03D4D916}" type="datetimeFigureOut">
              <a:rPr lang="fr-FR" smtClean="0"/>
              <a:t>08/01/2026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2D099F-EAA9-99D4-C60E-6093C43DC8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4DC92F-D30F-2678-B2B7-6081501B0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D7E3F-0A43-46D2-8069-B8ABF6EDD9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7078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C895AC53-581E-FD27-5AB8-B8BFE9C32B2F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61FAE8F-4161-8258-0818-C33E4CBC0C44}"/>
              </a:ext>
            </a:extLst>
          </p:cNvPr>
          <p:cNvSpPr txBox="1"/>
          <p:nvPr/>
        </p:nvSpPr>
        <p:spPr>
          <a:xfrm>
            <a:off x="206829" y="685720"/>
            <a:ext cx="6346371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6600" dirty="0">
                <a:solidFill>
                  <a:schemeClr val="bg1"/>
                </a:solidFill>
              </a:rPr>
              <a:t>Stratégie d’investissement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5CAD1E-6E44-9BEB-B6F0-13574AAE3266}"/>
              </a:ext>
            </a:extLst>
          </p:cNvPr>
          <p:cNvSpPr/>
          <p:nvPr/>
        </p:nvSpPr>
        <p:spPr>
          <a:xfrm>
            <a:off x="7260770" y="0"/>
            <a:ext cx="4931229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3B2DEB5-3B1B-E755-06FC-BFA0E87EA0FF}"/>
              </a:ext>
            </a:extLst>
          </p:cNvPr>
          <p:cNvSpPr txBox="1"/>
          <p:nvPr/>
        </p:nvSpPr>
        <p:spPr>
          <a:xfrm>
            <a:off x="206829" y="6053712"/>
            <a:ext cx="6101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fr-FR" b="0" i="0" dirty="0">
                <a:solidFill>
                  <a:schemeClr val="bg1"/>
                </a:solidFill>
                <a:effectLst/>
              </a:rPr>
              <a:t>Présenté par Antonin Meudic – 9 Janvier 2026</a:t>
            </a:r>
            <a:endParaRPr lang="fr-FR" dirty="0">
              <a:solidFill>
                <a:schemeClr val="bg1"/>
              </a:solidFill>
              <a:effectLst/>
            </a:endParaRP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886FE607-2C3C-62A1-CE96-BCF6D1D1EBBE}"/>
              </a:ext>
            </a:extLst>
          </p:cNvPr>
          <p:cNvCxnSpPr/>
          <p:nvPr/>
        </p:nvCxnSpPr>
        <p:spPr>
          <a:xfrm>
            <a:off x="0" y="435429"/>
            <a:ext cx="726077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A81D1EF5-2D73-A378-6FEB-F7A083CBAF3E}"/>
              </a:ext>
            </a:extLst>
          </p:cNvPr>
          <p:cNvSpPr txBox="1"/>
          <p:nvPr/>
        </p:nvSpPr>
        <p:spPr>
          <a:xfrm>
            <a:off x="206829" y="3059668"/>
            <a:ext cx="51932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Méthode directionnelle et hybride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C094A01C-16BB-7677-7576-3018600EA7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081" y="1350464"/>
            <a:ext cx="5732890" cy="401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44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8311D-795A-6129-1108-25E3A35B4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8804CF2E-8A4F-7E48-5F73-865374FF9916}"/>
              </a:ext>
            </a:extLst>
          </p:cNvPr>
          <p:cNvSpPr txBox="1"/>
          <p:nvPr/>
        </p:nvSpPr>
        <p:spPr>
          <a:xfrm>
            <a:off x="1273629" y="2202788"/>
            <a:ext cx="81534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Réflexion sur le système des retraites en France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Nécessité d’investir tout de suite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Projet destiné à créer une stratégie d’investissement grand public (investissement mensuel)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Actifs avec peu de frais et accessibles (ETF)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2E13F03A-519F-879E-6791-5E484A655543}"/>
              </a:ext>
            </a:extLst>
          </p:cNvPr>
          <p:cNvCxnSpPr>
            <a:cxnSpLocks/>
          </p:cNvCxnSpPr>
          <p:nvPr/>
        </p:nvCxnSpPr>
        <p:spPr>
          <a:xfrm>
            <a:off x="0" y="435429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E282920F-BCEF-3FD2-278B-10249220E24C}"/>
              </a:ext>
            </a:extLst>
          </p:cNvPr>
          <p:cNvCxnSpPr>
            <a:cxnSpLocks/>
          </p:cNvCxnSpPr>
          <p:nvPr/>
        </p:nvCxnSpPr>
        <p:spPr>
          <a:xfrm>
            <a:off x="0" y="641168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079D3DCA-27B2-611A-2BC9-010B06DFBCF7}"/>
              </a:ext>
            </a:extLst>
          </p:cNvPr>
          <p:cNvSpPr txBox="1"/>
          <p:nvPr/>
        </p:nvSpPr>
        <p:spPr>
          <a:xfrm>
            <a:off x="272143" y="794658"/>
            <a:ext cx="67539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/>
                </a:solidFill>
              </a:rPr>
              <a:t>Philosophie de la stratégie</a:t>
            </a:r>
          </a:p>
        </p:txBody>
      </p:sp>
    </p:spTree>
    <p:extLst>
      <p:ext uri="{BB962C8B-B14F-4D97-AF65-F5344CB8AC3E}">
        <p14:creationId xmlns:p14="http://schemas.microsoft.com/office/powerpoint/2010/main" val="3788969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7AAE52-8875-89FE-4905-34707D00E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0107F161-0FF7-783B-E2D0-4291943C5086}"/>
              </a:ext>
            </a:extLst>
          </p:cNvPr>
          <p:cNvCxnSpPr>
            <a:cxnSpLocks/>
          </p:cNvCxnSpPr>
          <p:nvPr/>
        </p:nvCxnSpPr>
        <p:spPr>
          <a:xfrm>
            <a:off x="0" y="435429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98E4D1BF-C0CC-43BC-527D-F1AEB47B0981}"/>
              </a:ext>
            </a:extLst>
          </p:cNvPr>
          <p:cNvCxnSpPr>
            <a:cxnSpLocks/>
          </p:cNvCxnSpPr>
          <p:nvPr/>
        </p:nvCxnSpPr>
        <p:spPr>
          <a:xfrm>
            <a:off x="0" y="641168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CCF1D2AE-7A85-D8D0-3E45-6CFC39794A63}"/>
              </a:ext>
            </a:extLst>
          </p:cNvPr>
          <p:cNvSpPr txBox="1"/>
          <p:nvPr/>
        </p:nvSpPr>
        <p:spPr>
          <a:xfrm>
            <a:off x="272143" y="794658"/>
            <a:ext cx="108187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bg1"/>
                </a:solidFill>
              </a:rPr>
              <a:t>Philosophie de la stratégie – Panier d’actifs</a:t>
            </a:r>
          </a:p>
        </p:txBody>
      </p:sp>
      <p:pic>
        <p:nvPicPr>
          <p:cNvPr id="13" name="Image 12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2577EDE4-5C08-855A-9CA5-4C55D490A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340" y="1787013"/>
            <a:ext cx="3982006" cy="406774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00DB6C31-E927-B541-6406-210F9EA93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037" y="1984883"/>
            <a:ext cx="5343525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505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1EB806-1231-3F3C-A199-D500600F3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360EAED-862A-E452-7528-0D2B4DB05323}"/>
              </a:ext>
            </a:extLst>
          </p:cNvPr>
          <p:cNvCxnSpPr>
            <a:cxnSpLocks/>
          </p:cNvCxnSpPr>
          <p:nvPr/>
        </p:nvCxnSpPr>
        <p:spPr>
          <a:xfrm>
            <a:off x="0" y="435429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E783FF02-9125-1BFF-58DF-748202550666}"/>
              </a:ext>
            </a:extLst>
          </p:cNvPr>
          <p:cNvCxnSpPr>
            <a:cxnSpLocks/>
          </p:cNvCxnSpPr>
          <p:nvPr/>
        </p:nvCxnSpPr>
        <p:spPr>
          <a:xfrm>
            <a:off x="0" y="641168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E8E91424-2D5F-79D7-27AE-42C671B179EE}"/>
              </a:ext>
            </a:extLst>
          </p:cNvPr>
          <p:cNvSpPr txBox="1"/>
          <p:nvPr/>
        </p:nvSpPr>
        <p:spPr>
          <a:xfrm>
            <a:off x="217714" y="491383"/>
            <a:ext cx="11464164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fr-FR" sz="4400" dirty="0">
                <a:solidFill>
                  <a:schemeClr val="bg1"/>
                </a:solidFill>
              </a:rPr>
              <a:t>La Philosophie "</a:t>
            </a:r>
            <a:r>
              <a:rPr lang="fr-FR" altLang="fr-FR" sz="4400" dirty="0" err="1">
                <a:solidFill>
                  <a:schemeClr val="bg1"/>
                </a:solidFill>
              </a:rPr>
              <a:t>Safety</a:t>
            </a:r>
            <a:r>
              <a:rPr lang="fr-FR" altLang="fr-FR" sz="4400" dirty="0">
                <a:solidFill>
                  <a:schemeClr val="bg1"/>
                </a:solidFill>
              </a:rPr>
              <a:t>-First" (Le Filtre de Régime)</a:t>
            </a:r>
          </a:p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4CDF93A-9723-5162-4F16-A21B60E29356}"/>
              </a:ext>
            </a:extLst>
          </p:cNvPr>
          <p:cNvSpPr txBox="1"/>
          <p:nvPr/>
        </p:nvSpPr>
        <p:spPr>
          <a:xfrm>
            <a:off x="217714" y="1228876"/>
            <a:ext cx="8817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>
                <a:solidFill>
                  <a:schemeClr val="bg1"/>
                </a:solidFill>
              </a:rPr>
              <a:t>Système de filtre via Moyenne Mobile pour capter la tendance structurelle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BD55974-B311-69AD-8A15-CA6D3581720C}"/>
              </a:ext>
            </a:extLst>
          </p:cNvPr>
          <p:cNvSpPr txBox="1"/>
          <p:nvPr/>
        </p:nvSpPr>
        <p:spPr>
          <a:xfrm>
            <a:off x="813784" y="1687613"/>
            <a:ext cx="5282215" cy="671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Haussier: Prix &gt; MM50 &gt; MM200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2F5103C-4A47-766F-A78A-A23493986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796" y="2599837"/>
            <a:ext cx="9436407" cy="370394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B96EA89-BC60-EB15-A3A5-1D2B55995657}"/>
              </a:ext>
            </a:extLst>
          </p:cNvPr>
          <p:cNvSpPr txBox="1"/>
          <p:nvPr/>
        </p:nvSpPr>
        <p:spPr>
          <a:xfrm>
            <a:off x="6202214" y="1778196"/>
            <a:ext cx="52822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Baissier: Prix &lt; MM50 &lt; MM200</a:t>
            </a:r>
          </a:p>
        </p:txBody>
      </p:sp>
    </p:spTree>
    <p:extLst>
      <p:ext uri="{BB962C8B-B14F-4D97-AF65-F5344CB8AC3E}">
        <p14:creationId xmlns:p14="http://schemas.microsoft.com/office/powerpoint/2010/main" val="319024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F06B97-22F1-0F6A-0B11-28F205F28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24F0D295-6903-45C9-15B9-0F4AFB3DE987}"/>
              </a:ext>
            </a:extLst>
          </p:cNvPr>
          <p:cNvCxnSpPr>
            <a:cxnSpLocks/>
          </p:cNvCxnSpPr>
          <p:nvPr/>
        </p:nvCxnSpPr>
        <p:spPr>
          <a:xfrm>
            <a:off x="0" y="435429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7B6A5B77-283B-F982-4174-586B0A2372A6}"/>
              </a:ext>
            </a:extLst>
          </p:cNvPr>
          <p:cNvCxnSpPr>
            <a:cxnSpLocks/>
          </p:cNvCxnSpPr>
          <p:nvPr/>
        </p:nvCxnSpPr>
        <p:spPr>
          <a:xfrm>
            <a:off x="0" y="641168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72FB48BB-B154-2A13-684E-A19460193916}"/>
              </a:ext>
            </a:extLst>
          </p:cNvPr>
          <p:cNvSpPr txBox="1"/>
          <p:nvPr/>
        </p:nvSpPr>
        <p:spPr>
          <a:xfrm>
            <a:off x="217714" y="491383"/>
            <a:ext cx="11552073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fr-FR" sz="4400" dirty="0">
                <a:solidFill>
                  <a:schemeClr val="bg1"/>
                </a:solidFill>
              </a:rPr>
              <a:t>Architecture Hybride – GARCH et ARIMA-</a:t>
            </a:r>
            <a:r>
              <a:rPr lang="fr-FR" altLang="fr-FR" sz="4400" dirty="0" err="1">
                <a:solidFill>
                  <a:schemeClr val="bg1"/>
                </a:solidFill>
              </a:rPr>
              <a:t>XGBoost</a:t>
            </a:r>
            <a:endParaRPr lang="fr-FR" altLang="fr-FR" sz="4400" dirty="0">
              <a:solidFill>
                <a:schemeClr val="bg1"/>
              </a:solidFill>
            </a:endParaRPr>
          </a:p>
          <a:p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5DB1639-A823-D292-6717-B4CA453F2F28}"/>
              </a:ext>
            </a:extLst>
          </p:cNvPr>
          <p:cNvSpPr txBox="1"/>
          <p:nvPr/>
        </p:nvSpPr>
        <p:spPr>
          <a:xfrm>
            <a:off x="217714" y="1306990"/>
            <a:ext cx="4360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i="1" dirty="0">
                <a:solidFill>
                  <a:schemeClr val="bg1"/>
                </a:solidFill>
              </a:rPr>
              <a:t>Comment fonctionne le modèle ?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CBF5B18-E3B4-822B-6F3B-964DB931234A}"/>
              </a:ext>
            </a:extLst>
          </p:cNvPr>
          <p:cNvSpPr txBox="1"/>
          <p:nvPr/>
        </p:nvSpPr>
        <p:spPr>
          <a:xfrm>
            <a:off x="244928" y="1902808"/>
            <a:ext cx="11702143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dirty="0">
                <a:solidFill>
                  <a:schemeClr val="bg1"/>
                </a:solidFill>
              </a:rPr>
              <a:t>Tous les mois le modèle vient calculer pour chaque actif du portefeuille: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Sa volatilité via un </a:t>
            </a:r>
            <a:r>
              <a:rPr lang="fr-FR" sz="2400" dirty="0" err="1">
                <a:solidFill>
                  <a:schemeClr val="bg1"/>
                </a:solidFill>
              </a:rPr>
              <a:t>Garch</a:t>
            </a:r>
            <a:r>
              <a:rPr lang="fr-FR" sz="2400" dirty="0">
                <a:solidFill>
                  <a:schemeClr val="bg1"/>
                </a:solidFill>
              </a:rPr>
              <a:t>(1, 1)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dirty="0">
                <a:solidFill>
                  <a:schemeClr val="bg1"/>
                </a:solidFill>
              </a:rPr>
              <a:t>Son rendement espéré via un ARIMA pour capter la tendance de l’actif via son autocorrélation puis un </a:t>
            </a:r>
            <a:r>
              <a:rPr lang="fr-FR" sz="2400" dirty="0" err="1">
                <a:solidFill>
                  <a:schemeClr val="bg1"/>
                </a:solidFill>
              </a:rPr>
              <a:t>XGBoost</a:t>
            </a:r>
            <a:r>
              <a:rPr lang="fr-FR" sz="2400" dirty="0">
                <a:solidFill>
                  <a:schemeClr val="bg1"/>
                </a:solidFill>
              </a:rPr>
              <a:t> entraîné pour prévoir les erreurs de l’ARIMA en s’appuyant sur plusieurs </a:t>
            </a:r>
            <a:r>
              <a:rPr lang="fr-FR" sz="2400" dirty="0" err="1">
                <a:solidFill>
                  <a:schemeClr val="bg1"/>
                </a:solidFill>
              </a:rPr>
              <a:t>features</a:t>
            </a:r>
            <a:r>
              <a:rPr lang="fr-FR" sz="2400" dirty="0">
                <a:solidFill>
                  <a:schemeClr val="bg1"/>
                </a:solidFill>
              </a:rPr>
              <a:t>:</a:t>
            </a:r>
          </a:p>
          <a:p>
            <a:pPr marL="1714500" lvl="3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schemeClr val="bg1"/>
                </a:solidFill>
              </a:rPr>
              <a:t>Indicateurs techniques: RSI, Bandes de Bollinger, MACD, Lag(1, 2, 3, 5)</a:t>
            </a:r>
          </a:p>
          <a:p>
            <a:pPr marL="1714500" lvl="3" indent="-3429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sz="2400" dirty="0">
                <a:solidFill>
                  <a:schemeClr val="bg1"/>
                </a:solidFill>
              </a:rPr>
              <a:t>Indicateurs macro: VIX, Taux 10 ans, Dollar Index, Vol Pétrole</a:t>
            </a:r>
          </a:p>
        </p:txBody>
      </p:sp>
    </p:spTree>
    <p:extLst>
      <p:ext uri="{BB962C8B-B14F-4D97-AF65-F5344CB8AC3E}">
        <p14:creationId xmlns:p14="http://schemas.microsoft.com/office/powerpoint/2010/main" val="1317047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889A78-F63E-9FAF-6A4B-57E419B36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6FA12D19-A087-6184-020A-01B4ADDFF352}"/>
              </a:ext>
            </a:extLst>
          </p:cNvPr>
          <p:cNvCxnSpPr>
            <a:cxnSpLocks/>
          </p:cNvCxnSpPr>
          <p:nvPr/>
        </p:nvCxnSpPr>
        <p:spPr>
          <a:xfrm>
            <a:off x="0" y="435429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23D08ADC-43E3-FC37-756E-54DFB2609912}"/>
              </a:ext>
            </a:extLst>
          </p:cNvPr>
          <p:cNvCxnSpPr>
            <a:cxnSpLocks/>
          </p:cNvCxnSpPr>
          <p:nvPr/>
        </p:nvCxnSpPr>
        <p:spPr>
          <a:xfrm>
            <a:off x="0" y="641168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F8BD6AB7-820C-27E3-3C56-60F1288BD02C}"/>
              </a:ext>
            </a:extLst>
          </p:cNvPr>
          <p:cNvSpPr txBox="1"/>
          <p:nvPr/>
        </p:nvSpPr>
        <p:spPr>
          <a:xfrm>
            <a:off x="217714" y="491383"/>
            <a:ext cx="1104565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fr-FR" sz="4400" dirty="0">
                <a:solidFill>
                  <a:schemeClr val="bg1"/>
                </a:solidFill>
              </a:rPr>
              <a:t>Allocation de Portefeuille – Filtres et </a:t>
            </a:r>
            <a:r>
              <a:rPr lang="fr-FR" altLang="fr-FR" sz="4400" dirty="0" err="1">
                <a:solidFill>
                  <a:schemeClr val="bg1"/>
                </a:solidFill>
              </a:rPr>
              <a:t>Markowitz</a:t>
            </a:r>
            <a:endParaRPr lang="fr-FR" altLang="fr-FR" sz="4400" dirty="0">
              <a:solidFill>
                <a:schemeClr val="bg1"/>
              </a:solidFill>
            </a:endParaRPr>
          </a:p>
          <a:p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75220CA-20EC-E18F-5B14-803AE2C5D7D8}"/>
              </a:ext>
            </a:extLst>
          </p:cNvPr>
          <p:cNvSpPr txBox="1"/>
          <p:nvPr/>
        </p:nvSpPr>
        <p:spPr>
          <a:xfrm>
            <a:off x="217714" y="1306990"/>
            <a:ext cx="8999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i="1" dirty="0">
                <a:solidFill>
                  <a:schemeClr val="bg1"/>
                </a:solidFill>
              </a:rPr>
              <a:t>Une fois la volatilité et les rendements espérés de chaque actif calculé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C6BD209-2B66-499C-D244-843C66A92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714" y="3170134"/>
            <a:ext cx="11613730" cy="28146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Objectif Principal </a:t>
            </a:r>
            <a:r>
              <a:rPr kumimoji="0" lang="fr-FR" altLang="fr-FR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Maximisation du Ratio de Sharpe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Réalisme des Coûts </a:t>
            </a:r>
            <a:r>
              <a:rPr kumimoji="0" lang="fr-FR" altLang="fr-FR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Intègre une pénalité de turnover directement dans la fonction d'optimisation.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000" b="1" dirty="0">
                <a:solidFill>
                  <a:schemeClr val="bg1"/>
                </a:solidFill>
              </a:rPr>
              <a:t>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Règle "Cash </a:t>
            </a:r>
            <a:r>
              <a:rPr kumimoji="0" lang="fr-FR" altLang="fr-FR" sz="20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is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 Position" </a:t>
            </a:r>
            <a:r>
              <a:rPr kumimoji="0" lang="fr-FR" altLang="fr-FR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</a:t>
            </a:r>
            <a:r>
              <a:rPr lang="fr-FR" altLang="fr-FR" sz="2000" dirty="0">
                <a:solidFill>
                  <a:schemeClr val="bg1"/>
                </a:solidFill>
              </a:rPr>
              <a:t>La somme des |poids| des actifs &lt;= 1. Possibilité de passer en cash si aucun actif n’est attractif</a:t>
            </a:r>
            <a:endParaRPr kumimoji="0" lang="fr-FR" altLang="fr-FR" sz="20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000" b="1" dirty="0">
                <a:solidFill>
                  <a:schemeClr val="bg1"/>
                </a:solidFill>
              </a:rPr>
              <a:t>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Contraintes de Tendance </a:t>
            </a:r>
            <a:r>
              <a:rPr kumimoji="0" lang="fr-FR" altLang="fr-FR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 Application des Bornes Dynamiques (issues du Filtre de Régime)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000" b="1" dirty="0">
                <a:solidFill>
                  <a:schemeClr val="bg1"/>
                </a:solidFill>
              </a:rPr>
              <a:t>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Stabilité</a:t>
            </a:r>
            <a:r>
              <a:rPr kumimoji="0" lang="fr-FR" altLang="fr-FR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: L'optimisation démarre à partir des poids actuels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2087171-45D2-7F41-12AB-D813AE350EB2}"/>
              </a:ext>
            </a:extLst>
          </p:cNvPr>
          <p:cNvSpPr txBox="1"/>
          <p:nvPr/>
        </p:nvSpPr>
        <p:spPr>
          <a:xfrm>
            <a:off x="217714" y="1764702"/>
            <a:ext cx="116137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>
                <a:solidFill>
                  <a:schemeClr val="bg1"/>
                </a:solidFill>
              </a:rPr>
              <a:t>Fonction </a:t>
            </a:r>
            <a:r>
              <a:rPr lang="fr-FR" sz="2000" i="1" dirty="0" err="1">
                <a:solidFill>
                  <a:schemeClr val="bg1"/>
                </a:solidFill>
              </a:rPr>
              <a:t>minimize</a:t>
            </a:r>
            <a:r>
              <a:rPr lang="fr-FR" sz="2000" i="1" dirty="0">
                <a:solidFill>
                  <a:schemeClr val="bg1"/>
                </a:solidFill>
              </a:rPr>
              <a:t>() de </a:t>
            </a:r>
            <a:r>
              <a:rPr lang="fr-FR" sz="2000" i="1" dirty="0" err="1">
                <a:solidFill>
                  <a:schemeClr val="bg1"/>
                </a:solidFill>
              </a:rPr>
              <a:t>scipy</a:t>
            </a:r>
            <a:r>
              <a:rPr lang="fr-FR" sz="2000" i="1" dirty="0">
                <a:solidFill>
                  <a:schemeClr val="bg1"/>
                </a:solidFill>
              </a:rPr>
              <a:t> avec la matrice de variance-covariance prédite et les rendements prédits 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CCE396B-68A8-8534-79AD-9043120E4A44}"/>
              </a:ext>
            </a:extLst>
          </p:cNvPr>
          <p:cNvSpPr txBox="1"/>
          <p:nvPr/>
        </p:nvSpPr>
        <p:spPr>
          <a:xfrm>
            <a:off x="217714" y="2584262"/>
            <a:ext cx="32327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</a:rPr>
              <a:t>Problème à résoudre</a:t>
            </a:r>
          </a:p>
        </p:txBody>
      </p:sp>
    </p:spTree>
    <p:extLst>
      <p:ext uri="{BB962C8B-B14F-4D97-AF65-F5344CB8AC3E}">
        <p14:creationId xmlns:p14="http://schemas.microsoft.com/office/powerpoint/2010/main" val="790203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A0DF9-EF09-5F85-EB1A-69A785B06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EC20BB14-4C86-D18C-789F-FD706C14DC36}"/>
              </a:ext>
            </a:extLst>
          </p:cNvPr>
          <p:cNvCxnSpPr>
            <a:cxnSpLocks/>
          </p:cNvCxnSpPr>
          <p:nvPr/>
        </p:nvCxnSpPr>
        <p:spPr>
          <a:xfrm>
            <a:off x="0" y="435429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6ACD7C49-5B14-C502-0106-037BEE5CD119}"/>
              </a:ext>
            </a:extLst>
          </p:cNvPr>
          <p:cNvCxnSpPr>
            <a:cxnSpLocks/>
          </p:cNvCxnSpPr>
          <p:nvPr/>
        </p:nvCxnSpPr>
        <p:spPr>
          <a:xfrm>
            <a:off x="0" y="641168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8358CDF4-4A6B-F71D-A621-A296908EE1C8}"/>
              </a:ext>
            </a:extLst>
          </p:cNvPr>
          <p:cNvSpPr txBox="1"/>
          <p:nvPr/>
        </p:nvSpPr>
        <p:spPr>
          <a:xfrm>
            <a:off x="217714" y="491383"/>
            <a:ext cx="7327006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fr-FR" sz="4400" dirty="0">
                <a:solidFill>
                  <a:schemeClr val="bg1"/>
                </a:solidFill>
              </a:rPr>
              <a:t>Gestion des frais – Trade Buffer</a:t>
            </a:r>
          </a:p>
          <a:p>
            <a:endParaRPr lang="fr-FR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A041A92-3885-BAEE-15A4-725D96813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28" y="2746612"/>
            <a:ext cx="11778343" cy="2851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Mécanisme de Seuil (10%) : Une règle stricte est appliquée avant l'exécution 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fr-FR" altLang="fr-FR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Si |Poids_{Cible} - Poids_{Actuel}| &lt; 10%. Aucune action (On garde la position).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On ne </a:t>
            </a:r>
            <a:r>
              <a:rPr kumimoji="0" lang="fr-FR" altLang="fr-FR" sz="240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trade</a:t>
            </a:r>
            <a:r>
              <a:rPr kumimoji="0" lang="fr-FR" altLang="fr-FR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que si le signal de changement est fort et significatif.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2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Impact Financier : Réduction drastique du Turnover inutile et des frais de transaction, améliorant mécaniquement le Ratio de Sharpe Net.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384F685-E793-3164-8417-B3413C67008E}"/>
              </a:ext>
            </a:extLst>
          </p:cNvPr>
          <p:cNvSpPr txBox="1"/>
          <p:nvPr/>
        </p:nvSpPr>
        <p:spPr>
          <a:xfrm>
            <a:off x="206828" y="1311220"/>
            <a:ext cx="113864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Philosophie "</a:t>
            </a:r>
            <a:r>
              <a:rPr kumimoji="0" lang="fr-FR" altLang="fr-FR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Lazy</a:t>
            </a:r>
            <a:r>
              <a:rPr kumimoji="0" lang="fr-FR" altLang="fr-FR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Trading" : L'objectif est de ne pas réagir au bruit insignifiant du marché ("Noise") pour préserver l'Alpha.</a:t>
            </a:r>
          </a:p>
        </p:txBody>
      </p:sp>
    </p:spTree>
    <p:extLst>
      <p:ext uri="{BB962C8B-B14F-4D97-AF65-F5344CB8AC3E}">
        <p14:creationId xmlns:p14="http://schemas.microsoft.com/office/powerpoint/2010/main" val="1492869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D11BB0-90F5-411C-E2DC-5D6E43D40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7DDCF293-436B-8801-27E1-4D192A1D7A59}"/>
              </a:ext>
            </a:extLst>
          </p:cNvPr>
          <p:cNvCxnSpPr>
            <a:cxnSpLocks/>
          </p:cNvCxnSpPr>
          <p:nvPr/>
        </p:nvCxnSpPr>
        <p:spPr>
          <a:xfrm>
            <a:off x="0" y="435429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9844B677-44E8-514D-479A-6AB86FC400AD}"/>
              </a:ext>
            </a:extLst>
          </p:cNvPr>
          <p:cNvCxnSpPr>
            <a:cxnSpLocks/>
          </p:cNvCxnSpPr>
          <p:nvPr/>
        </p:nvCxnSpPr>
        <p:spPr>
          <a:xfrm>
            <a:off x="0" y="641168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A49FE3F4-D5A2-BFDA-B6A2-9C7DF7EA48D7}"/>
              </a:ext>
            </a:extLst>
          </p:cNvPr>
          <p:cNvSpPr txBox="1"/>
          <p:nvPr/>
        </p:nvSpPr>
        <p:spPr>
          <a:xfrm>
            <a:off x="217714" y="491383"/>
            <a:ext cx="5473806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fr-FR" sz="4400" dirty="0">
                <a:solidFill>
                  <a:schemeClr val="bg1"/>
                </a:solidFill>
              </a:rPr>
              <a:t>Protocole de validation</a:t>
            </a:r>
          </a:p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236960E-E512-9C85-2275-756F34655379}"/>
              </a:ext>
            </a:extLst>
          </p:cNvPr>
          <p:cNvSpPr txBox="1"/>
          <p:nvPr/>
        </p:nvSpPr>
        <p:spPr>
          <a:xfrm>
            <a:off x="217714" y="1132111"/>
            <a:ext cx="113864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Backtest</a:t>
            </a:r>
            <a:r>
              <a:rPr kumimoji="0" lang="fr-FR" altLang="fr-FR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</a:t>
            </a:r>
            <a:r>
              <a:rPr kumimoji="0" lang="fr-FR" altLang="fr-FR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Walk</a:t>
            </a:r>
            <a:r>
              <a:rPr kumimoji="0" lang="fr-FR" altLang="fr-FR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fr-FR" altLang="fr-FR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Forward</a:t>
            </a:r>
            <a:endParaRPr kumimoji="0" lang="fr-FR" altLang="fr-FR" sz="2400" i="1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78D437B-BB51-2FE0-DDF5-04DF66C30C35}"/>
              </a:ext>
            </a:extLst>
          </p:cNvPr>
          <p:cNvSpPr txBox="1"/>
          <p:nvPr/>
        </p:nvSpPr>
        <p:spPr>
          <a:xfrm>
            <a:off x="217713" y="1430486"/>
            <a:ext cx="11386457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240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Aucune des données futures n’est utilisée, on génère nos nouvelles allocations à partir des 3 dernières années jusqu’à 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400" dirty="0">
                <a:solidFill>
                  <a:schemeClr val="bg1"/>
                </a:solidFill>
              </a:rPr>
              <a:t>On calcule le turnover total, s’il est inférieur à 10%, on ne change pas l’allocation (Buffer)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400" dirty="0">
                <a:solidFill>
                  <a:schemeClr val="bg1"/>
                </a:solidFill>
              </a:rPr>
              <a:t>On calcule notre capital réduit des coûts de transaction en fonction du turnover.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400" dirty="0">
                <a:solidFill>
                  <a:schemeClr val="bg1"/>
                </a:solidFill>
              </a:rPr>
              <a:t>Avec notre nouvelle allocation, on garde en mémoire les rendements de notre stratégie sur la période T à T+1.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fr-FR" altLang="fr-FR" sz="2400" dirty="0">
                <a:solidFill>
                  <a:schemeClr val="bg1"/>
                </a:solidFill>
              </a:rPr>
              <a:t>On prend en compte le drift (évolution différente entre les actifs) pour ajuster nos futurs poids initiaux avant optimisation à la date T+1.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240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240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62769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F2F8B9-A94F-19DC-9D61-3D1AA51BF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E4366BA0-0298-C519-E7B6-AEFE845A67DC}"/>
              </a:ext>
            </a:extLst>
          </p:cNvPr>
          <p:cNvCxnSpPr>
            <a:cxnSpLocks/>
          </p:cNvCxnSpPr>
          <p:nvPr/>
        </p:nvCxnSpPr>
        <p:spPr>
          <a:xfrm>
            <a:off x="0" y="435429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B3507095-9696-2712-645F-42190F1E4FDB}"/>
              </a:ext>
            </a:extLst>
          </p:cNvPr>
          <p:cNvCxnSpPr>
            <a:cxnSpLocks/>
          </p:cNvCxnSpPr>
          <p:nvPr/>
        </p:nvCxnSpPr>
        <p:spPr>
          <a:xfrm>
            <a:off x="0" y="641168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6D04C4E1-81F5-F3C6-42D8-F996D9174B6E}"/>
              </a:ext>
            </a:extLst>
          </p:cNvPr>
          <p:cNvSpPr txBox="1"/>
          <p:nvPr/>
        </p:nvSpPr>
        <p:spPr>
          <a:xfrm>
            <a:off x="217714" y="491383"/>
            <a:ext cx="5473806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fr-FR" sz="4400" dirty="0">
                <a:solidFill>
                  <a:schemeClr val="bg1"/>
                </a:solidFill>
              </a:rPr>
              <a:t>Protocole de validation</a:t>
            </a:r>
          </a:p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C2AF573-9635-35FA-EB88-C5D348713A30}"/>
              </a:ext>
            </a:extLst>
          </p:cNvPr>
          <p:cNvSpPr txBox="1"/>
          <p:nvPr/>
        </p:nvSpPr>
        <p:spPr>
          <a:xfrm>
            <a:off x="217714" y="1132111"/>
            <a:ext cx="113864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Backtest</a:t>
            </a:r>
            <a:r>
              <a:rPr kumimoji="0" lang="fr-FR" altLang="fr-FR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</a:t>
            </a:r>
            <a:r>
              <a:rPr kumimoji="0" lang="fr-FR" altLang="fr-FR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Walk</a:t>
            </a:r>
            <a:r>
              <a:rPr kumimoji="0" lang="fr-FR" altLang="fr-FR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fr-FR" altLang="fr-FR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Forward</a:t>
            </a:r>
            <a:r>
              <a:rPr kumimoji="0" lang="fr-FR" altLang="fr-FR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Court et Moyen terme (1 an et 3 ans)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00F8BC25-EE10-1CF8-177C-F00A2E3EF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092154"/>
              </p:ext>
            </p:extLst>
          </p:nvPr>
        </p:nvGraphicFramePr>
        <p:xfrm>
          <a:off x="1232004" y="2929465"/>
          <a:ext cx="8919032" cy="1979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4879">
                  <a:extLst>
                    <a:ext uri="{9D8B030D-6E8A-4147-A177-3AD203B41FA5}">
                      <a16:colId xmlns:a16="http://schemas.microsoft.com/office/drawing/2014/main" val="3736490655"/>
                    </a:ext>
                  </a:extLst>
                </a:gridCol>
                <a:gridCol w="1114879">
                  <a:extLst>
                    <a:ext uri="{9D8B030D-6E8A-4147-A177-3AD203B41FA5}">
                      <a16:colId xmlns:a16="http://schemas.microsoft.com/office/drawing/2014/main" val="1776631253"/>
                    </a:ext>
                  </a:extLst>
                </a:gridCol>
                <a:gridCol w="1114879">
                  <a:extLst>
                    <a:ext uri="{9D8B030D-6E8A-4147-A177-3AD203B41FA5}">
                      <a16:colId xmlns:a16="http://schemas.microsoft.com/office/drawing/2014/main" val="1266071692"/>
                    </a:ext>
                  </a:extLst>
                </a:gridCol>
                <a:gridCol w="1114879">
                  <a:extLst>
                    <a:ext uri="{9D8B030D-6E8A-4147-A177-3AD203B41FA5}">
                      <a16:colId xmlns:a16="http://schemas.microsoft.com/office/drawing/2014/main" val="2903743445"/>
                    </a:ext>
                  </a:extLst>
                </a:gridCol>
                <a:gridCol w="1114879">
                  <a:extLst>
                    <a:ext uri="{9D8B030D-6E8A-4147-A177-3AD203B41FA5}">
                      <a16:colId xmlns:a16="http://schemas.microsoft.com/office/drawing/2014/main" val="817131203"/>
                    </a:ext>
                  </a:extLst>
                </a:gridCol>
                <a:gridCol w="1114879">
                  <a:extLst>
                    <a:ext uri="{9D8B030D-6E8A-4147-A177-3AD203B41FA5}">
                      <a16:colId xmlns:a16="http://schemas.microsoft.com/office/drawing/2014/main" val="2668724558"/>
                    </a:ext>
                  </a:extLst>
                </a:gridCol>
                <a:gridCol w="1114879">
                  <a:extLst>
                    <a:ext uri="{9D8B030D-6E8A-4147-A177-3AD203B41FA5}">
                      <a16:colId xmlns:a16="http://schemas.microsoft.com/office/drawing/2014/main" val="2055753379"/>
                    </a:ext>
                  </a:extLst>
                </a:gridCol>
                <a:gridCol w="1114879">
                  <a:extLst>
                    <a:ext uri="{9D8B030D-6E8A-4147-A177-3AD203B41FA5}">
                      <a16:colId xmlns:a16="http://schemas.microsoft.com/office/drawing/2014/main" val="894850132"/>
                    </a:ext>
                  </a:extLst>
                </a:gridCol>
              </a:tblGrid>
              <a:tr h="65999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Période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CAGR (Annuel)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Sharpe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Max baisse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Win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Alpha (Annuel)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Beta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461893"/>
                  </a:ext>
                </a:extLst>
              </a:tr>
              <a:tr h="659996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 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32.56%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2.23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-4.16%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69.23%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30.03%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0.15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13.72%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671389"/>
                  </a:ext>
                </a:extLst>
              </a:tr>
              <a:tr h="659996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3 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19.58%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-3.21%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64.10%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16,02%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0.17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10.02%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8833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963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A5A0B3-4E6C-360D-78AD-1719F2391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A9E3EF79-F8C3-87D1-F1C9-33DAC6993696}"/>
              </a:ext>
            </a:extLst>
          </p:cNvPr>
          <p:cNvCxnSpPr>
            <a:cxnSpLocks/>
          </p:cNvCxnSpPr>
          <p:nvPr/>
        </p:nvCxnSpPr>
        <p:spPr>
          <a:xfrm>
            <a:off x="0" y="435429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3F4C9DF5-9563-4E85-B0A6-E83A74FB802D}"/>
              </a:ext>
            </a:extLst>
          </p:cNvPr>
          <p:cNvCxnSpPr>
            <a:cxnSpLocks/>
          </p:cNvCxnSpPr>
          <p:nvPr/>
        </p:nvCxnSpPr>
        <p:spPr>
          <a:xfrm>
            <a:off x="0" y="641168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F92AD499-F9F3-7D5B-70DA-ABF2F88C6104}"/>
              </a:ext>
            </a:extLst>
          </p:cNvPr>
          <p:cNvSpPr txBox="1"/>
          <p:nvPr/>
        </p:nvSpPr>
        <p:spPr>
          <a:xfrm>
            <a:off x="217714" y="491383"/>
            <a:ext cx="5473806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fr-FR" sz="4400" dirty="0">
                <a:solidFill>
                  <a:schemeClr val="bg1"/>
                </a:solidFill>
              </a:rPr>
              <a:t>Protocole de validation</a:t>
            </a:r>
          </a:p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57B2D84-F1FC-5271-A7EB-67F3D0B29274}"/>
              </a:ext>
            </a:extLst>
          </p:cNvPr>
          <p:cNvSpPr txBox="1"/>
          <p:nvPr/>
        </p:nvSpPr>
        <p:spPr>
          <a:xfrm>
            <a:off x="217714" y="1132111"/>
            <a:ext cx="113864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Backtest</a:t>
            </a:r>
            <a:r>
              <a:rPr kumimoji="0" lang="fr-FR" altLang="fr-FR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</a:t>
            </a:r>
            <a:r>
              <a:rPr kumimoji="0" lang="fr-FR" altLang="fr-FR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Walk</a:t>
            </a:r>
            <a:r>
              <a:rPr kumimoji="0" lang="fr-FR" altLang="fr-FR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fr-FR" altLang="fr-FR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Forward</a:t>
            </a:r>
            <a:r>
              <a:rPr kumimoji="0" lang="fr-FR" altLang="fr-FR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</a:t>
            </a:r>
            <a:r>
              <a:rPr lang="fr-FR" altLang="fr-FR" sz="2400" i="1" dirty="0">
                <a:solidFill>
                  <a:schemeClr val="bg1"/>
                </a:solidFill>
              </a:rPr>
              <a:t>Long</a:t>
            </a:r>
            <a:r>
              <a:rPr kumimoji="0" lang="fr-FR" altLang="fr-FR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terme (5 ans et 7 ans) – 2016 à 2026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C530E9E8-C385-ADEC-FE1E-70FD990F9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586037"/>
              </p:ext>
            </p:extLst>
          </p:nvPr>
        </p:nvGraphicFramePr>
        <p:xfrm>
          <a:off x="1232004" y="2929465"/>
          <a:ext cx="8919032" cy="1979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4879">
                  <a:extLst>
                    <a:ext uri="{9D8B030D-6E8A-4147-A177-3AD203B41FA5}">
                      <a16:colId xmlns:a16="http://schemas.microsoft.com/office/drawing/2014/main" val="3736490655"/>
                    </a:ext>
                  </a:extLst>
                </a:gridCol>
                <a:gridCol w="1114879">
                  <a:extLst>
                    <a:ext uri="{9D8B030D-6E8A-4147-A177-3AD203B41FA5}">
                      <a16:colId xmlns:a16="http://schemas.microsoft.com/office/drawing/2014/main" val="1776631253"/>
                    </a:ext>
                  </a:extLst>
                </a:gridCol>
                <a:gridCol w="1114879">
                  <a:extLst>
                    <a:ext uri="{9D8B030D-6E8A-4147-A177-3AD203B41FA5}">
                      <a16:colId xmlns:a16="http://schemas.microsoft.com/office/drawing/2014/main" val="1266071692"/>
                    </a:ext>
                  </a:extLst>
                </a:gridCol>
                <a:gridCol w="1114879">
                  <a:extLst>
                    <a:ext uri="{9D8B030D-6E8A-4147-A177-3AD203B41FA5}">
                      <a16:colId xmlns:a16="http://schemas.microsoft.com/office/drawing/2014/main" val="2903743445"/>
                    </a:ext>
                  </a:extLst>
                </a:gridCol>
                <a:gridCol w="1114879">
                  <a:extLst>
                    <a:ext uri="{9D8B030D-6E8A-4147-A177-3AD203B41FA5}">
                      <a16:colId xmlns:a16="http://schemas.microsoft.com/office/drawing/2014/main" val="817131203"/>
                    </a:ext>
                  </a:extLst>
                </a:gridCol>
                <a:gridCol w="1114879">
                  <a:extLst>
                    <a:ext uri="{9D8B030D-6E8A-4147-A177-3AD203B41FA5}">
                      <a16:colId xmlns:a16="http://schemas.microsoft.com/office/drawing/2014/main" val="2668724558"/>
                    </a:ext>
                  </a:extLst>
                </a:gridCol>
                <a:gridCol w="1114879">
                  <a:extLst>
                    <a:ext uri="{9D8B030D-6E8A-4147-A177-3AD203B41FA5}">
                      <a16:colId xmlns:a16="http://schemas.microsoft.com/office/drawing/2014/main" val="2055753379"/>
                    </a:ext>
                  </a:extLst>
                </a:gridCol>
                <a:gridCol w="1114879">
                  <a:extLst>
                    <a:ext uri="{9D8B030D-6E8A-4147-A177-3AD203B41FA5}">
                      <a16:colId xmlns:a16="http://schemas.microsoft.com/office/drawing/2014/main" val="894850132"/>
                    </a:ext>
                  </a:extLst>
                </a:gridCol>
              </a:tblGrid>
              <a:tr h="659996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Période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CAGR (Annuel)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Sharpe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Max baisse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Win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Alpha (Annuel)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Beta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Vol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3461893"/>
                  </a:ext>
                </a:extLst>
              </a:tr>
              <a:tr h="659996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5 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11.57%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-9.99%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55.38%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9.82%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0.13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11.10%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0671389"/>
                  </a:ext>
                </a:extLst>
              </a:tr>
              <a:tr h="659996"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7 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15.35%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1.12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-12.86%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60.44%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11.71%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11.97%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8833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866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D2AD37-41FA-FD67-0E7A-4F8E0DB36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E7D618F8-9158-FE84-37F8-07B689A171B0}"/>
              </a:ext>
            </a:extLst>
          </p:cNvPr>
          <p:cNvCxnSpPr>
            <a:cxnSpLocks/>
          </p:cNvCxnSpPr>
          <p:nvPr/>
        </p:nvCxnSpPr>
        <p:spPr>
          <a:xfrm>
            <a:off x="0" y="435429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FAA31FC3-BDB9-F904-9899-2F5670A83831}"/>
              </a:ext>
            </a:extLst>
          </p:cNvPr>
          <p:cNvCxnSpPr>
            <a:cxnSpLocks/>
          </p:cNvCxnSpPr>
          <p:nvPr/>
        </p:nvCxnSpPr>
        <p:spPr>
          <a:xfrm>
            <a:off x="0" y="641168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7EEEAB53-DABB-976B-CCDF-AFEA4CD02670}"/>
              </a:ext>
            </a:extLst>
          </p:cNvPr>
          <p:cNvSpPr txBox="1"/>
          <p:nvPr/>
        </p:nvSpPr>
        <p:spPr>
          <a:xfrm>
            <a:off x="217714" y="491383"/>
            <a:ext cx="5473806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fr-FR" sz="4400" dirty="0">
                <a:solidFill>
                  <a:schemeClr val="bg1"/>
                </a:solidFill>
              </a:rPr>
              <a:t>Protocole de validation</a:t>
            </a:r>
          </a:p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40BAD2F-7670-8B59-BCC9-D5AF90475997}"/>
              </a:ext>
            </a:extLst>
          </p:cNvPr>
          <p:cNvSpPr txBox="1"/>
          <p:nvPr/>
        </p:nvSpPr>
        <p:spPr>
          <a:xfrm>
            <a:off x="217714" y="1132111"/>
            <a:ext cx="113864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Backtest</a:t>
            </a:r>
            <a:r>
              <a:rPr kumimoji="0" lang="fr-FR" altLang="fr-FR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</a:t>
            </a:r>
            <a:r>
              <a:rPr kumimoji="0" lang="fr-FR" altLang="fr-FR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Walk</a:t>
            </a:r>
            <a:r>
              <a:rPr kumimoji="0" lang="fr-FR" altLang="fr-FR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fr-FR" altLang="fr-FR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Forward</a:t>
            </a:r>
            <a:r>
              <a:rPr kumimoji="0" lang="fr-FR" altLang="fr-FR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Court et Moyen terme (1an et 3ans)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52F0F29-B39E-0D74-E447-DF180F0C82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1771873"/>
            <a:ext cx="6095999" cy="463981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5C8C91E-B23B-4574-71A5-E61416C2F4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1873"/>
            <a:ext cx="6096000" cy="463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480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34A4BD-D096-6B3C-8D47-0BEBC35EB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9A1994F3-B270-8D84-826F-A1E5CA41B426}"/>
              </a:ext>
            </a:extLst>
          </p:cNvPr>
          <p:cNvCxnSpPr>
            <a:cxnSpLocks/>
          </p:cNvCxnSpPr>
          <p:nvPr/>
        </p:nvCxnSpPr>
        <p:spPr>
          <a:xfrm>
            <a:off x="0" y="435429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0EBFF72D-7187-8F8E-7707-C08F13F96C03}"/>
              </a:ext>
            </a:extLst>
          </p:cNvPr>
          <p:cNvCxnSpPr>
            <a:cxnSpLocks/>
          </p:cNvCxnSpPr>
          <p:nvPr/>
        </p:nvCxnSpPr>
        <p:spPr>
          <a:xfrm>
            <a:off x="0" y="641168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717F9398-9DEB-D7E2-BB8B-4CCDC4DEF699}"/>
              </a:ext>
            </a:extLst>
          </p:cNvPr>
          <p:cNvSpPr txBox="1"/>
          <p:nvPr/>
        </p:nvSpPr>
        <p:spPr>
          <a:xfrm>
            <a:off x="217714" y="491383"/>
            <a:ext cx="5473806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fr-FR" sz="4400" dirty="0">
                <a:solidFill>
                  <a:schemeClr val="bg1"/>
                </a:solidFill>
              </a:rPr>
              <a:t>Protocole de validation</a:t>
            </a:r>
          </a:p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D5EDB59-DCA4-E7A7-2082-F91CA2C87901}"/>
              </a:ext>
            </a:extLst>
          </p:cNvPr>
          <p:cNvSpPr txBox="1"/>
          <p:nvPr/>
        </p:nvSpPr>
        <p:spPr>
          <a:xfrm>
            <a:off x="217714" y="1132111"/>
            <a:ext cx="113864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fr-FR" altLang="fr-FR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Backtest</a:t>
            </a:r>
            <a:r>
              <a:rPr kumimoji="0" lang="fr-FR" altLang="fr-FR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</a:t>
            </a:r>
            <a:r>
              <a:rPr kumimoji="0" lang="fr-FR" altLang="fr-FR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Walk</a:t>
            </a:r>
            <a:r>
              <a:rPr kumimoji="0" lang="fr-FR" altLang="fr-FR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fr-FR" altLang="fr-FR" sz="2400" i="1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Forward</a:t>
            </a:r>
            <a:r>
              <a:rPr kumimoji="0" lang="fr-FR" altLang="fr-FR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</a:t>
            </a:r>
            <a:r>
              <a:rPr lang="fr-FR" altLang="fr-FR" sz="2400" i="1" dirty="0">
                <a:solidFill>
                  <a:schemeClr val="bg1"/>
                </a:solidFill>
              </a:rPr>
              <a:t>Long</a:t>
            </a:r>
            <a:r>
              <a:rPr kumimoji="0" lang="fr-FR" altLang="fr-FR" sz="24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terme (5an et 7ans) – 2016 à 2026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3E0FC89-E763-DFC7-F644-DBD63B1D8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0986"/>
            <a:ext cx="6096000" cy="463981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C09AA11-BF04-4AC1-37B8-87D38C2BB4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6" y="1760987"/>
            <a:ext cx="6096003" cy="463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794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8C1BCC-6FA3-37E6-DF4F-A28635D1D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68E067BF-779D-7045-B8A7-AAD1C2CC8E5B}"/>
              </a:ext>
            </a:extLst>
          </p:cNvPr>
          <p:cNvCxnSpPr>
            <a:cxnSpLocks/>
          </p:cNvCxnSpPr>
          <p:nvPr/>
        </p:nvCxnSpPr>
        <p:spPr>
          <a:xfrm>
            <a:off x="0" y="435429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769CB6F5-E922-994C-3282-7135FE0A90AB}"/>
              </a:ext>
            </a:extLst>
          </p:cNvPr>
          <p:cNvCxnSpPr>
            <a:cxnSpLocks/>
          </p:cNvCxnSpPr>
          <p:nvPr/>
        </p:nvCxnSpPr>
        <p:spPr>
          <a:xfrm>
            <a:off x="0" y="641168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33845162-19C6-88E9-12F3-CC9112A48E61}"/>
              </a:ext>
            </a:extLst>
          </p:cNvPr>
          <p:cNvSpPr txBox="1"/>
          <p:nvPr/>
        </p:nvSpPr>
        <p:spPr>
          <a:xfrm>
            <a:off x="217714" y="491383"/>
            <a:ext cx="7877349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fr-FR" sz="4400" dirty="0">
                <a:solidFill>
                  <a:schemeClr val="bg1"/>
                </a:solidFill>
              </a:rPr>
              <a:t>Exemple: évolution de l’allocation</a:t>
            </a:r>
          </a:p>
          <a:p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2A90406-8999-F8D6-4A1F-C9EE9323F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515" y="1185020"/>
            <a:ext cx="8905947" cy="5214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804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699F75-403B-5859-5AD9-6D61BAB18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54823380-8574-9AB7-27B7-572293C49C6F}"/>
              </a:ext>
            </a:extLst>
          </p:cNvPr>
          <p:cNvCxnSpPr>
            <a:cxnSpLocks/>
          </p:cNvCxnSpPr>
          <p:nvPr/>
        </p:nvCxnSpPr>
        <p:spPr>
          <a:xfrm>
            <a:off x="0" y="435429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8EA4BA9-ACF8-A4B2-EFA9-11053A26C81C}"/>
              </a:ext>
            </a:extLst>
          </p:cNvPr>
          <p:cNvCxnSpPr>
            <a:cxnSpLocks/>
          </p:cNvCxnSpPr>
          <p:nvPr/>
        </p:nvCxnSpPr>
        <p:spPr>
          <a:xfrm>
            <a:off x="0" y="641168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3EA7319D-0A3D-3EC1-99BF-81794B6D919E}"/>
              </a:ext>
            </a:extLst>
          </p:cNvPr>
          <p:cNvSpPr txBox="1"/>
          <p:nvPr/>
        </p:nvSpPr>
        <p:spPr>
          <a:xfrm>
            <a:off x="217714" y="491383"/>
            <a:ext cx="6110391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fr-FR" sz="4400" dirty="0">
                <a:solidFill>
                  <a:schemeClr val="bg1"/>
                </a:solidFill>
              </a:rPr>
              <a:t>Exemple: gestion des frais</a:t>
            </a:r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12FAF2D-3EC5-6104-1B0B-9220D1352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279" y="1295400"/>
            <a:ext cx="8715379" cy="510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125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160E26-59E9-F353-2683-1F80467FF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81E3989A-056C-6D79-97BA-89845F04879F}"/>
              </a:ext>
            </a:extLst>
          </p:cNvPr>
          <p:cNvCxnSpPr>
            <a:cxnSpLocks/>
          </p:cNvCxnSpPr>
          <p:nvPr/>
        </p:nvCxnSpPr>
        <p:spPr>
          <a:xfrm>
            <a:off x="0" y="435429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B750B9BA-5798-4495-B15B-2237D76EABBB}"/>
              </a:ext>
            </a:extLst>
          </p:cNvPr>
          <p:cNvCxnSpPr>
            <a:cxnSpLocks/>
          </p:cNvCxnSpPr>
          <p:nvPr/>
        </p:nvCxnSpPr>
        <p:spPr>
          <a:xfrm>
            <a:off x="0" y="641168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076B5AC0-DF91-A666-ADD4-C25F73A6852D}"/>
              </a:ext>
            </a:extLst>
          </p:cNvPr>
          <p:cNvSpPr txBox="1"/>
          <p:nvPr/>
        </p:nvSpPr>
        <p:spPr>
          <a:xfrm>
            <a:off x="217714" y="491383"/>
            <a:ext cx="11355545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fr-FR" sz="4400" dirty="0">
                <a:solidFill>
                  <a:schemeClr val="bg1"/>
                </a:solidFill>
              </a:rPr>
              <a:t>Mise en comparaison du VIX avec notre stratégie</a:t>
            </a:r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DD94F81-4867-227C-340E-EA78DB09D2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5435"/>
            <a:ext cx="6019800" cy="428625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61A1279-9BE4-A473-407C-00B91D896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2113025"/>
            <a:ext cx="60198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419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F38142-810C-EB0D-2905-E8DBF3065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CE96900A-9185-17BB-D43A-3E298C1CDEF2}"/>
              </a:ext>
            </a:extLst>
          </p:cNvPr>
          <p:cNvCxnSpPr>
            <a:cxnSpLocks/>
          </p:cNvCxnSpPr>
          <p:nvPr/>
        </p:nvCxnSpPr>
        <p:spPr>
          <a:xfrm>
            <a:off x="0" y="435429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6EB01E5A-CBF4-E020-5574-D0F484D785A6}"/>
              </a:ext>
            </a:extLst>
          </p:cNvPr>
          <p:cNvCxnSpPr>
            <a:cxnSpLocks/>
          </p:cNvCxnSpPr>
          <p:nvPr/>
        </p:nvCxnSpPr>
        <p:spPr>
          <a:xfrm>
            <a:off x="0" y="641168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A35DA969-5A4C-C703-8FE8-8EEFB13B6ABE}"/>
              </a:ext>
            </a:extLst>
          </p:cNvPr>
          <p:cNvSpPr txBox="1"/>
          <p:nvPr/>
        </p:nvSpPr>
        <p:spPr>
          <a:xfrm>
            <a:off x="217714" y="491383"/>
            <a:ext cx="1886094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fr-FR" sz="4400" dirty="0">
                <a:solidFill>
                  <a:schemeClr val="bg1"/>
                </a:solidFill>
              </a:rPr>
              <a:t>Annexe</a:t>
            </a:r>
          </a:p>
          <a:p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5A95666-1F48-5558-FDC0-4FA49E321C03}"/>
              </a:ext>
            </a:extLst>
          </p:cNvPr>
          <p:cNvSpPr txBox="1"/>
          <p:nvPr/>
        </p:nvSpPr>
        <p:spPr>
          <a:xfrm>
            <a:off x="217714" y="1358641"/>
            <a:ext cx="11266714" cy="4661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b="1" dirty="0">
                <a:solidFill>
                  <a:schemeClr val="bg1"/>
                </a:solidFill>
              </a:rPr>
              <a:t>1. Indicateurs Techniques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</a:rPr>
              <a:t>Tendance : Moyenne Mobile (SMA 50) et MACD (Signal + Histogramme).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</a:rPr>
              <a:t>Momentum : RSI (Force relative) et </a:t>
            </a:r>
            <a:r>
              <a:rPr lang="fr-FR" sz="2000" dirty="0" err="1">
                <a:solidFill>
                  <a:schemeClr val="bg1"/>
                </a:solidFill>
              </a:rPr>
              <a:t>Lagged</a:t>
            </a:r>
            <a:r>
              <a:rPr lang="fr-FR" sz="2000" dirty="0">
                <a:solidFill>
                  <a:schemeClr val="bg1"/>
                </a:solidFill>
              </a:rPr>
              <a:t> </a:t>
            </a:r>
            <a:r>
              <a:rPr lang="fr-FR" sz="2000" dirty="0" err="1">
                <a:solidFill>
                  <a:schemeClr val="bg1"/>
                </a:solidFill>
              </a:rPr>
              <a:t>Returns</a:t>
            </a:r>
            <a:r>
              <a:rPr lang="fr-FR" sz="2000" dirty="0">
                <a:solidFill>
                  <a:schemeClr val="bg1"/>
                </a:solidFill>
              </a:rPr>
              <a:t> (Rendements passés J-1 à J-5).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</a:rPr>
              <a:t>Volatilité : Bandes de Bollinger (%B pour la position et </a:t>
            </a:r>
            <a:r>
              <a:rPr lang="fr-FR" sz="2000" dirty="0" err="1">
                <a:solidFill>
                  <a:schemeClr val="bg1"/>
                </a:solidFill>
              </a:rPr>
              <a:t>Width</a:t>
            </a:r>
            <a:r>
              <a:rPr lang="fr-FR" sz="2000" dirty="0">
                <a:solidFill>
                  <a:schemeClr val="bg1"/>
                </a:solidFill>
              </a:rPr>
              <a:t> pour l'écartement).</a:t>
            </a:r>
          </a:p>
          <a:p>
            <a:pPr>
              <a:lnSpc>
                <a:spcPct val="150000"/>
              </a:lnSpc>
            </a:pPr>
            <a:r>
              <a:rPr lang="fr-FR" sz="2000" b="1" dirty="0">
                <a:solidFill>
                  <a:schemeClr val="bg1"/>
                </a:solidFill>
              </a:rPr>
              <a:t>2. Variables Macro &amp; Contexte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</a:rPr>
              <a:t>Niveaux : Prix de clôture du VIX (Peur) et des Taux.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</a:rPr>
              <a:t>Dynamique : Variations quotidiennes des indicateurs macro pour capter les chocs de marché.</a:t>
            </a:r>
          </a:p>
          <a:p>
            <a:pPr>
              <a:lnSpc>
                <a:spcPct val="150000"/>
              </a:lnSpc>
            </a:pPr>
            <a:endParaRPr lang="fr-FR" sz="20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fr-FR" sz="2000" dirty="0">
                <a:solidFill>
                  <a:schemeClr val="bg1"/>
                </a:solidFill>
              </a:rPr>
              <a:t>L'essentiel : Ces variables permettent à l'algorithme </a:t>
            </a:r>
            <a:r>
              <a:rPr lang="fr-FR" sz="2000" dirty="0" err="1">
                <a:solidFill>
                  <a:schemeClr val="bg1"/>
                </a:solidFill>
              </a:rPr>
              <a:t>XGBoost</a:t>
            </a:r>
            <a:r>
              <a:rPr lang="fr-FR" sz="2000" dirty="0">
                <a:solidFill>
                  <a:schemeClr val="bg1"/>
                </a:solidFill>
              </a:rPr>
              <a:t> de ne pas seulement voir le "prix", mais d'analyser la force du mouvement, la nervosité du marché et l'environnement économique global.</a:t>
            </a:r>
          </a:p>
        </p:txBody>
      </p:sp>
    </p:spTree>
    <p:extLst>
      <p:ext uri="{BB962C8B-B14F-4D97-AF65-F5344CB8AC3E}">
        <p14:creationId xmlns:p14="http://schemas.microsoft.com/office/powerpoint/2010/main" val="102499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EE8312-643C-80EB-7A25-3ADA731AC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1C74911A-D799-2746-1F9D-59AD6DA0A27E}"/>
              </a:ext>
            </a:extLst>
          </p:cNvPr>
          <p:cNvCxnSpPr>
            <a:cxnSpLocks/>
          </p:cNvCxnSpPr>
          <p:nvPr/>
        </p:nvCxnSpPr>
        <p:spPr>
          <a:xfrm>
            <a:off x="0" y="435429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DED46202-F43B-EFF9-6532-57131B047049}"/>
              </a:ext>
            </a:extLst>
          </p:cNvPr>
          <p:cNvCxnSpPr>
            <a:cxnSpLocks/>
          </p:cNvCxnSpPr>
          <p:nvPr/>
        </p:nvCxnSpPr>
        <p:spPr>
          <a:xfrm>
            <a:off x="0" y="641168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C29ED9A8-F02F-AE82-8FA0-B42036E336A2}"/>
              </a:ext>
            </a:extLst>
          </p:cNvPr>
          <p:cNvSpPr txBox="1"/>
          <p:nvPr/>
        </p:nvSpPr>
        <p:spPr>
          <a:xfrm>
            <a:off x="217714" y="491383"/>
            <a:ext cx="1886094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fr-FR" sz="4400" dirty="0">
                <a:solidFill>
                  <a:schemeClr val="bg1"/>
                </a:solidFill>
              </a:rPr>
              <a:t>Annexe</a:t>
            </a:r>
          </a:p>
          <a:p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05E052D-2C80-6E12-B0B4-FB1D963EA775}"/>
              </a:ext>
            </a:extLst>
          </p:cNvPr>
          <p:cNvSpPr txBox="1"/>
          <p:nvPr/>
        </p:nvSpPr>
        <p:spPr>
          <a:xfrm>
            <a:off x="217714" y="1358641"/>
            <a:ext cx="11266714" cy="419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</a:rPr>
              <a:t>Rendement (Log Return) : Variation du prix en continu pour une analyse statistique stable.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</a:rPr>
              <a:t>Ratio de Sharpe : Performance générée par unité de risque (Rendement net / Volatilité).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</a:rPr>
              <a:t>Alpha (α) : Performance pure du modèle au-delà de ce que le marché explique.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</a:rPr>
              <a:t>Bêta (β) : Sensibilité du portefeuille aux mouvements du marché global.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</a:rPr>
              <a:t>Volatilité : Mesure du risque via l'écart-type des rendements.</a:t>
            </a:r>
          </a:p>
          <a:p>
            <a:pPr>
              <a:lnSpc>
                <a:spcPct val="150000"/>
              </a:lnSpc>
            </a:pPr>
            <a:endParaRPr lang="fr-FR" sz="20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fr-FR" sz="2000" dirty="0">
                <a:solidFill>
                  <a:schemeClr val="bg1"/>
                </a:solidFill>
              </a:rPr>
              <a:t>L'essentiel : Ces métriques servent à valider que la stratégie ne gagne pas seulement de l'argent, mais qu'elle le fait avec une prise de risque maîtrisée et une réelle valeur ajoutée par rapport à un simple investissement passif.</a:t>
            </a:r>
          </a:p>
        </p:txBody>
      </p:sp>
    </p:spTree>
    <p:extLst>
      <p:ext uri="{BB962C8B-B14F-4D97-AF65-F5344CB8AC3E}">
        <p14:creationId xmlns:p14="http://schemas.microsoft.com/office/powerpoint/2010/main" val="542432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C19AC1-7229-A818-BAAA-E4340E810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7B0C734E-F88D-6081-3240-01F1AB3E00F1}"/>
              </a:ext>
            </a:extLst>
          </p:cNvPr>
          <p:cNvCxnSpPr>
            <a:cxnSpLocks/>
          </p:cNvCxnSpPr>
          <p:nvPr/>
        </p:nvCxnSpPr>
        <p:spPr>
          <a:xfrm>
            <a:off x="0" y="435429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ABC0BCEC-1FF1-E657-7A85-77EEE1D570CD}"/>
              </a:ext>
            </a:extLst>
          </p:cNvPr>
          <p:cNvCxnSpPr>
            <a:cxnSpLocks/>
          </p:cNvCxnSpPr>
          <p:nvPr/>
        </p:nvCxnSpPr>
        <p:spPr>
          <a:xfrm>
            <a:off x="0" y="6411685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7BF2C7C9-514D-0ACE-6668-3D25CE3306C0}"/>
              </a:ext>
            </a:extLst>
          </p:cNvPr>
          <p:cNvSpPr txBox="1"/>
          <p:nvPr/>
        </p:nvSpPr>
        <p:spPr>
          <a:xfrm>
            <a:off x="217714" y="491383"/>
            <a:ext cx="11678069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fr-FR" sz="4400" dirty="0">
                <a:solidFill>
                  <a:schemeClr val="bg1"/>
                </a:solidFill>
              </a:rPr>
              <a:t>Annexe – Modèle sans Nasdaq – 6 ans de </a:t>
            </a:r>
            <a:r>
              <a:rPr lang="fr-FR" altLang="fr-FR" sz="4400" dirty="0" err="1">
                <a:solidFill>
                  <a:schemeClr val="bg1"/>
                </a:solidFill>
              </a:rPr>
              <a:t>backtest</a:t>
            </a:r>
            <a:endParaRPr lang="fr-FR" altLang="fr-FR" sz="4400" dirty="0">
              <a:solidFill>
                <a:schemeClr val="bg1"/>
              </a:solidFill>
            </a:endParaRPr>
          </a:p>
          <a:p>
            <a:endParaRPr lang="fr-FR" dirty="0"/>
          </a:p>
        </p:txBody>
      </p:sp>
      <p:pic>
        <p:nvPicPr>
          <p:cNvPr id="4" name="Image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BE094635-AD77-AD75-F79E-D4891AA3E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545" y="1328783"/>
            <a:ext cx="9688286" cy="507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4939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11620</TotalTime>
  <Words>966</Words>
  <Application>Microsoft Office PowerPoint</Application>
  <PresentationFormat>Grand écran</PresentationFormat>
  <Paragraphs>120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Antonin Meudic</dc:creator>
  <cp:lastModifiedBy>Antonin Meudic</cp:lastModifiedBy>
  <cp:revision>3</cp:revision>
  <dcterms:created xsi:type="dcterms:W3CDTF">2026-01-08T08:50:23Z</dcterms:created>
  <dcterms:modified xsi:type="dcterms:W3CDTF">2026-01-16T10:31:05Z</dcterms:modified>
</cp:coreProperties>
</file>